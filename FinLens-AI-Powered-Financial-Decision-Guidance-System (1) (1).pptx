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Petrona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it Choube" userId="2a16cd1920288420" providerId="LiveId" clId="{E5EC8DF4-3023-4133-A0E3-60B840799E65}"/>
    <pc:docChg chg="modSld">
      <pc:chgData name="Ronit Choube" userId="2a16cd1920288420" providerId="LiveId" clId="{E5EC8DF4-3023-4133-A0E3-60B840799E65}" dt="2026-08-04T17:37:26.519" v="19" actId="1076"/>
      <pc:docMkLst>
        <pc:docMk/>
      </pc:docMkLst>
      <pc:sldChg chg="addSp modSp mod">
        <pc:chgData name="Ronit Choube" userId="2a16cd1920288420" providerId="LiveId" clId="{E5EC8DF4-3023-4133-A0E3-60B840799E65}" dt="2026-08-04T17:36:32.700" v="3" actId="20577"/>
        <pc:sldMkLst>
          <pc:docMk/>
          <pc:sldMk cId="0" sldId="256"/>
        </pc:sldMkLst>
        <pc:spChg chg="mod">
          <ac:chgData name="Ronit Choube" userId="2a16cd1920288420" providerId="LiveId" clId="{E5EC8DF4-3023-4133-A0E3-60B840799E65}" dt="2026-08-04T17:36:32.700" v="3" actId="20577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Ronit Choube" userId="2a16cd1920288420" providerId="LiveId" clId="{E5EC8DF4-3023-4133-A0E3-60B840799E65}" dt="2026-08-04T17:36:22.510" v="1" actId="1076"/>
          <ac:picMkLst>
            <pc:docMk/>
            <pc:sldMk cId="0" sldId="256"/>
            <ac:picMk id="6" creationId="{ADA35CF7-91AA-D792-994E-4C2E1A54073F}"/>
          </ac:picMkLst>
        </pc:picChg>
      </pc:sldChg>
      <pc:sldChg chg="addSp modSp mod">
        <pc:chgData name="Ronit Choube" userId="2a16cd1920288420" providerId="LiveId" clId="{E5EC8DF4-3023-4133-A0E3-60B840799E65}" dt="2026-08-04T17:36:42.607" v="5" actId="1076"/>
        <pc:sldMkLst>
          <pc:docMk/>
          <pc:sldMk cId="0" sldId="258"/>
        </pc:sldMkLst>
        <pc:picChg chg="add mod">
          <ac:chgData name="Ronit Choube" userId="2a16cd1920288420" providerId="LiveId" clId="{E5EC8DF4-3023-4133-A0E3-60B840799E65}" dt="2026-08-04T17:36:42.607" v="5" actId="1076"/>
          <ac:picMkLst>
            <pc:docMk/>
            <pc:sldMk cId="0" sldId="258"/>
            <ac:picMk id="16" creationId="{76CED330-B252-A952-D980-C1D3A924152D}"/>
          </ac:picMkLst>
        </pc:picChg>
      </pc:sldChg>
      <pc:sldChg chg="addSp modSp mod">
        <pc:chgData name="Ronit Choube" userId="2a16cd1920288420" providerId="LiveId" clId="{E5EC8DF4-3023-4133-A0E3-60B840799E65}" dt="2026-08-04T17:36:49.126" v="7" actId="1076"/>
        <pc:sldMkLst>
          <pc:docMk/>
          <pc:sldMk cId="0" sldId="259"/>
        </pc:sldMkLst>
        <pc:picChg chg="add mod">
          <ac:chgData name="Ronit Choube" userId="2a16cd1920288420" providerId="LiveId" clId="{E5EC8DF4-3023-4133-A0E3-60B840799E65}" dt="2026-08-04T17:36:49.126" v="7" actId="1076"/>
          <ac:picMkLst>
            <pc:docMk/>
            <pc:sldMk cId="0" sldId="259"/>
            <ac:picMk id="14" creationId="{FBE87E0B-EC42-365F-B671-3B569F1491E8}"/>
          </ac:picMkLst>
        </pc:picChg>
      </pc:sldChg>
      <pc:sldChg chg="addSp modSp mod">
        <pc:chgData name="Ronit Choube" userId="2a16cd1920288420" providerId="LiveId" clId="{E5EC8DF4-3023-4133-A0E3-60B840799E65}" dt="2026-08-04T17:36:53.840" v="9" actId="1076"/>
        <pc:sldMkLst>
          <pc:docMk/>
          <pc:sldMk cId="0" sldId="260"/>
        </pc:sldMkLst>
        <pc:picChg chg="add mod">
          <ac:chgData name="Ronit Choube" userId="2a16cd1920288420" providerId="LiveId" clId="{E5EC8DF4-3023-4133-A0E3-60B840799E65}" dt="2026-08-04T17:36:53.840" v="9" actId="1076"/>
          <ac:picMkLst>
            <pc:docMk/>
            <pc:sldMk cId="0" sldId="260"/>
            <ac:picMk id="19" creationId="{468FB5A5-011B-18A1-7680-4F129892E820}"/>
          </ac:picMkLst>
        </pc:picChg>
      </pc:sldChg>
      <pc:sldChg chg="addSp modSp mod">
        <pc:chgData name="Ronit Choube" userId="2a16cd1920288420" providerId="LiveId" clId="{E5EC8DF4-3023-4133-A0E3-60B840799E65}" dt="2026-08-04T17:37:00.538" v="11" actId="1076"/>
        <pc:sldMkLst>
          <pc:docMk/>
          <pc:sldMk cId="0" sldId="261"/>
        </pc:sldMkLst>
        <pc:picChg chg="add mod">
          <ac:chgData name="Ronit Choube" userId="2a16cd1920288420" providerId="LiveId" clId="{E5EC8DF4-3023-4133-A0E3-60B840799E65}" dt="2026-08-04T17:37:00.538" v="11" actId="1076"/>
          <ac:picMkLst>
            <pc:docMk/>
            <pc:sldMk cId="0" sldId="261"/>
            <ac:picMk id="14" creationId="{37941660-E177-634A-CD74-5EFA50A48323}"/>
          </ac:picMkLst>
        </pc:picChg>
      </pc:sldChg>
      <pc:sldChg chg="addSp modSp mod">
        <pc:chgData name="Ronit Choube" userId="2a16cd1920288420" providerId="LiveId" clId="{E5EC8DF4-3023-4133-A0E3-60B840799E65}" dt="2026-08-04T17:37:05.771" v="13" actId="1076"/>
        <pc:sldMkLst>
          <pc:docMk/>
          <pc:sldMk cId="0" sldId="262"/>
        </pc:sldMkLst>
        <pc:picChg chg="add mod">
          <ac:chgData name="Ronit Choube" userId="2a16cd1920288420" providerId="LiveId" clId="{E5EC8DF4-3023-4133-A0E3-60B840799E65}" dt="2026-08-04T17:37:05.771" v="13" actId="1076"/>
          <ac:picMkLst>
            <pc:docMk/>
            <pc:sldMk cId="0" sldId="262"/>
            <ac:picMk id="31" creationId="{FC795A7D-6ED1-7524-CFA3-6B8FBA272872}"/>
          </ac:picMkLst>
        </pc:picChg>
      </pc:sldChg>
      <pc:sldChg chg="addSp modSp mod">
        <pc:chgData name="Ronit Choube" userId="2a16cd1920288420" providerId="LiveId" clId="{E5EC8DF4-3023-4133-A0E3-60B840799E65}" dt="2026-08-04T17:37:12.702" v="15" actId="1076"/>
        <pc:sldMkLst>
          <pc:docMk/>
          <pc:sldMk cId="0" sldId="264"/>
        </pc:sldMkLst>
        <pc:picChg chg="add mod">
          <ac:chgData name="Ronit Choube" userId="2a16cd1920288420" providerId="LiveId" clId="{E5EC8DF4-3023-4133-A0E3-60B840799E65}" dt="2026-08-04T17:37:12.702" v="15" actId="1076"/>
          <ac:picMkLst>
            <pc:docMk/>
            <pc:sldMk cId="0" sldId="264"/>
            <ac:picMk id="11" creationId="{098E69DE-E49A-2767-7E26-11A50E363B7C}"/>
          </ac:picMkLst>
        </pc:picChg>
      </pc:sldChg>
      <pc:sldChg chg="addSp modSp mod">
        <pc:chgData name="Ronit Choube" userId="2a16cd1920288420" providerId="LiveId" clId="{E5EC8DF4-3023-4133-A0E3-60B840799E65}" dt="2026-08-04T17:37:18.276" v="17" actId="1076"/>
        <pc:sldMkLst>
          <pc:docMk/>
          <pc:sldMk cId="0" sldId="265"/>
        </pc:sldMkLst>
        <pc:picChg chg="add mod">
          <ac:chgData name="Ronit Choube" userId="2a16cd1920288420" providerId="LiveId" clId="{E5EC8DF4-3023-4133-A0E3-60B840799E65}" dt="2026-08-04T17:37:18.276" v="17" actId="1076"/>
          <ac:picMkLst>
            <pc:docMk/>
            <pc:sldMk cId="0" sldId="265"/>
            <ac:picMk id="32" creationId="{CA418E8F-3717-EC00-B367-4AD5075AB973}"/>
          </ac:picMkLst>
        </pc:picChg>
      </pc:sldChg>
      <pc:sldChg chg="addSp modSp mod">
        <pc:chgData name="Ronit Choube" userId="2a16cd1920288420" providerId="LiveId" clId="{E5EC8DF4-3023-4133-A0E3-60B840799E65}" dt="2026-08-04T17:37:26.519" v="19" actId="1076"/>
        <pc:sldMkLst>
          <pc:docMk/>
          <pc:sldMk cId="0" sldId="266"/>
        </pc:sldMkLst>
        <pc:picChg chg="add mod">
          <ac:chgData name="Ronit Choube" userId="2a16cd1920288420" providerId="LiveId" clId="{E5EC8DF4-3023-4133-A0E3-60B840799E65}" dt="2026-08-04T17:37:26.519" v="19" actId="1076"/>
          <ac:picMkLst>
            <pc:docMk/>
            <pc:sldMk cId="0" sldId="266"/>
            <ac:picMk id="33" creationId="{3D884CA1-1B96-64B7-97B2-2CB6721DA4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912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96951"/>
            <a:ext cx="6296860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FinLens: AI-Powered Financial Decision Guidance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000095" y="3991479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Credit Score for Your Financial Documents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35CF7-91AA-D792-994E-4C2E1A540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792" y="6472477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4377"/>
            <a:ext cx="6296860" cy="1116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Problem: Why Millions Make Costly Mistakes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20379"/>
            <a:ext cx="6296860" cy="12661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6779" y="2109490"/>
            <a:ext cx="584244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Stakes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26779" y="2480270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missed prepayment clause on a </a:t>
            </a:r>
            <a:r>
              <a:rPr lang="en-US" sz="13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₹50L home loan costs ₹8–12L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unnecessary interest over 20 years — money lost to fine print.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39604"/>
            <a:ext cx="6296860" cy="15246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6779" y="3528715"/>
            <a:ext cx="584244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Existing Gap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26779" y="3899495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Lawyers charge ₹5–10K per document and are slow. ChatGPT hallucinates with no audit trail. Bank advisors are biased. Comparison sites offer no personalization or market benchmarking.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17393"/>
            <a:ext cx="6296860" cy="12661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6779" y="5206504"/>
            <a:ext cx="584244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Real Problem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26779" y="5577284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system today combines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legal clarity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quantitative scoring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market context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one explainable, auditable recommendation.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583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Solution: Explainable, Scored, Personalized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94073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08337"/>
            <a:ext cx="53162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FinLens Reads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2831802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documents, understanding your full profile — age, income, risk appetite, and existing EMIs — before drawing any conclusion.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794073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408337"/>
            <a:ext cx="53163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FinLens Scores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213915" y="283180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option with a defensible </a:t>
            </a:r>
            <a:r>
              <a:rPr lang="en-US" sz="14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0–100 Exposure Score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not an opinion, a number you can audit and defend.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17082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731345"/>
            <a:ext cx="53162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FinLens Simulates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661475" y="5154811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What-if scenarios live — tenure, prepayment, rate shifts — powered by a real quantitative pricing engine, not static tables.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17082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731345"/>
            <a:ext cx="531630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FinLens Explains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6213915" y="5154811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recommendation with a visible trace: which clause, which agent, which data source drove the call. Fully auditable.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CED330-B252-A952-D980-C1D3A92415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5130" y="6486473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210"/>
            <a:ext cx="10868745" cy="58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Architecture: LLM + Quant Engine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33" y="2585641"/>
            <a:ext cx="5494498" cy="2514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30778" y="2845688"/>
            <a:ext cx="1276215" cy="159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Edge &amp; Data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830778" y="3048435"/>
            <a:ext cx="1339687" cy="35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React/TypeScript → FastAPI; Tavily live search, fallback dataset, SQLite/Postgres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935960" y="3672209"/>
            <a:ext cx="1231648" cy="159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Pipeline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5960" y="3874957"/>
            <a:ext cx="1231648" cy="35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 multi-agent: Classifier, Extractor, Clause-Risk Classifier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830778" y="4098975"/>
            <a:ext cx="1276215" cy="159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Engine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30778" y="4301723"/>
            <a:ext cx="1339687" cy="35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Intelligence: GMM, BS, Monte Carlo, Ridge/Lasso/ElasticNet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82732" y="1563489"/>
            <a:ext cx="46537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Two Distinct Paths — One Output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82732" y="2018705"/>
            <a:ext cx="4653739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deliberately split into an </a:t>
            </a:r>
            <a:r>
              <a:rPr lang="en-US" sz="13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reasoning pipeline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r>
              <a:rPr lang="en-US" sz="13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engine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converge only at the Trade-Off Engine. This is not an LLM wrapper.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882732" y="2988370"/>
            <a:ext cx="4653739" cy="324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React + TypeScript — document upload, What-If Simulator, dashboard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FastAPI + Python — routing, orchestration, database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Pipeline: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LangGraph multi-agent powered by Claude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 Engine: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GMM, Black-Scholes, Monte Carlo, Ridge/Lasso/ElasticNet — built and validated independently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Data: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Live Tavily search + curated fallback, SQLite/PostgreSQL</a:t>
            </a:r>
            <a:endParaRPr lang="en-US" sz="13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E87E0B-EC42-365F-B671-3B569F149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523" y="6486473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030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Stack: Why Each Choice Matters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3496877" cy="2628702"/>
          </a:xfrm>
          <a:prstGeom prst="roundRect">
            <a:avLst>
              <a:gd name="adj" fmla="val 302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853902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React + TypeScript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6832" y="2277368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Type-safe, responsive UI for document upload and interactive simulation. Compile-time guarantees prevent runtime UI failures.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658541"/>
            <a:ext cx="3496877" cy="2628702"/>
          </a:xfrm>
          <a:prstGeom prst="roundRect">
            <a:avLst>
              <a:gd name="adj" fmla="val 302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1853902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FastAPI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542716" y="2277368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Async, production-ready backend. Pydantic enforces strict schema validation at every API boundary — no silent data corruption.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658541"/>
            <a:ext cx="3496877" cy="2628702"/>
          </a:xfrm>
          <a:prstGeom prst="roundRect">
            <a:avLst>
              <a:gd name="adj" fmla="val 302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1853902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LangGraph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28600" y="2277368"/>
            <a:ext cx="31061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orchestration with per-agent testability and auditability. Not one monolithic prompt — each agent can be tested and swapped independently.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76254"/>
            <a:ext cx="5339820" cy="17214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671616"/>
            <a:ext cx="4949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Claude + Tavily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56832" y="5095081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handles extraction and reasoning; Tavily provides live market search. Grounded responses, not hallucinated market data.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476254"/>
            <a:ext cx="5339820" cy="1721445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671616"/>
            <a:ext cx="494910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Quant Stack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385658" y="5095081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(GMM), NumPy/SciPy (Black-Scholes, Monte Carlo) — validated independently before integration into the pricing backbone.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8FB5A5-011B-18A1-7680-4F129892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523" y="6486473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431"/>
            <a:ext cx="10868745" cy="1116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Multi-Agent Pipeline: The Document Understanding Layer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2923084"/>
            <a:ext cx="4704141" cy="1702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200" y="4206617"/>
            <a:ext cx="1237312" cy="15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3: Clause Risk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268200" y="3693349"/>
            <a:ext cx="1237312" cy="15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2: Extractor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268200" y="3174843"/>
            <a:ext cx="1237312" cy="15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1: Classifier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1475" y="4798219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agent is independently testable and replaceable — separation of concerns is enforced by design.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87226" y="1875433"/>
            <a:ext cx="5471777" cy="4453136"/>
          </a:xfrm>
          <a:prstGeom prst="roundRect">
            <a:avLst>
              <a:gd name="adj" fmla="val 2751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357282" y="2028527"/>
            <a:ext cx="5131664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Agent 3: Our Original Contribution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357282" y="2460625"/>
            <a:ext cx="5131664" cy="1171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Clause-Risk Classifier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part of this project that is ours — not the LLM's.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labels each extracted clause by risk category using a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designed rubric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7282" y="3770313"/>
            <a:ext cx="5131664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Penalty severity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Lock-in duration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volatility exposure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cost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transparency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7282" y="5415161"/>
            <a:ext cx="5131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classification layer operates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independently of a single LLM call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auditable, consistent, and testable against historical outcomes.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941660-E177-634A-CD74-5EFA50A48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523" y="6481663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782"/>
            <a:ext cx="10868745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Exposure Score: The Headline Output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773491" y="1770459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25%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857" y="1086644"/>
            <a:ext cx="1641335" cy="1641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818606"/>
            <a:ext cx="3570099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Penalty Severity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3036193"/>
            <a:ext cx="3570099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Prepayment charges, foreclosure penalties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22764" y="1770459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20%</a:t>
            </a:r>
            <a:endParaRPr lang="en-US" sz="2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131" y="1086644"/>
            <a:ext cx="1641335" cy="16413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10748" y="2818606"/>
            <a:ext cx="3570099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Lock-in Duration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310748" y="3036193"/>
            <a:ext cx="3570099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you're contractually bound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9072038" y="1770459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20%</a:t>
            </a:r>
            <a:endParaRPr lang="en-US" sz="2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404" y="1086644"/>
            <a:ext cx="1641335" cy="16413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60022" y="2818606"/>
            <a:ext cx="3570099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Rate Volatility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7960022" y="3036193"/>
            <a:ext cx="3570099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vs. floating rate exposure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598078" y="4012109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20%</a:t>
            </a:r>
            <a:endParaRPr lang="en-US" sz="2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444" y="3328293"/>
            <a:ext cx="1641335" cy="16413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86062" y="5060255"/>
            <a:ext cx="3570099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Exit Cost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2486062" y="5277842"/>
            <a:ext cx="3570099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fees, surrender charges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7247352" y="4012109"/>
            <a:ext cx="13458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15%</a:t>
            </a:r>
            <a:endParaRPr lang="en-US" sz="2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9718" y="3328293"/>
            <a:ext cx="1641335" cy="16413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35336" y="5060255"/>
            <a:ext cx="3570198" cy="17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135336" y="5277842"/>
            <a:ext cx="357019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 of terms and disclosure quality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661475" y="5558532"/>
            <a:ext cx="5300927" cy="306685"/>
          </a:xfrm>
          <a:prstGeom prst="roundRect">
            <a:avLst>
              <a:gd name="adj" fmla="val 14985"/>
            </a:avLst>
          </a:prstGeom>
          <a:solidFill>
            <a:srgbClr val="B6FCB8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11" y="5707360"/>
            <a:ext cx="136720" cy="10933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16868" y="5642769"/>
            <a:ext cx="544578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Loan A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3% penalty, 5-year lock-in, fixed rate → </a:t>
            </a: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Score: 72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6235643" y="5558532"/>
            <a:ext cx="5300927" cy="306685"/>
          </a:xfrm>
          <a:prstGeom prst="roundRect">
            <a:avLst>
              <a:gd name="adj" fmla="val 14985"/>
            </a:avLst>
          </a:prstGeom>
          <a:solidFill>
            <a:srgbClr val="FCF2B5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4980" y="5707360"/>
            <a:ext cx="136720" cy="10933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91036" y="5642769"/>
            <a:ext cx="5445783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Loan B</a:t>
            </a: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5% penalty, 10-year lock-in, floating rate → </a:t>
            </a: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Score: 41</a:t>
            </a:r>
            <a:endParaRPr lang="en-US" sz="850" dirty="0"/>
          </a:p>
        </p:txBody>
      </p:sp>
      <p:sp>
        <p:nvSpPr>
          <p:cNvPr id="29" name="Text 20"/>
          <p:cNvSpPr/>
          <p:nvPr/>
        </p:nvSpPr>
        <p:spPr>
          <a:xfrm>
            <a:off x="661475" y="6007695"/>
            <a:ext cx="10868745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31-point difference is driven by lock-in duration and rate volatility exposure — </a:t>
            </a: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quantified, not opinionated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Weights were chosen via domain expert consultation and validated against historical loan outcomes.</a:t>
            </a:r>
            <a:endParaRPr lang="en-US" sz="8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C795A7D-6ED1-7524-CFA3-6B8FBA2728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523" y="6484018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18939"/>
            <a:ext cx="6296860" cy="1054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Intelligence Engine &amp; What-If Simulator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61475" y="1978025"/>
            <a:ext cx="3080169" cy="2606576"/>
          </a:xfrm>
          <a:prstGeom prst="roundRect">
            <a:avLst>
              <a:gd name="adj" fmla="val 25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156" y="2157710"/>
            <a:ext cx="272080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Engine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41156" y="2503091"/>
            <a:ext cx="2720808" cy="1901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market search via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Tavily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cross-checked against curated fallback data. Regime detection via </a:t>
            </a:r>
            <a:r>
              <a:rPr lang="en-US" sz="12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GMM (bull/bear/sideways)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Scenario pricing via </a:t>
            </a:r>
            <a:r>
              <a:rPr lang="en-US" sz="12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Black-Scholes &amp; Monte Carlo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Liquidity-shock detection via </a:t>
            </a:r>
            <a:r>
              <a:rPr lang="en-US" sz="12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Ridge/Lasso/ElasticNet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878165" y="1978025"/>
            <a:ext cx="3080169" cy="2606576"/>
          </a:xfrm>
          <a:prstGeom prst="roundRect">
            <a:avLst>
              <a:gd name="adj" fmla="val 25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57846" y="2157710"/>
            <a:ext cx="2720808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Built Independently — Then Integrated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057846" y="2766616"/>
            <a:ext cx="2720808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module was developed and validated as a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 quantitative trading platform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It was not built to support a demo — it was integrated as the proven pricing backbone of FinLens.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4721126"/>
            <a:ext cx="6296860" cy="1417935"/>
          </a:xfrm>
          <a:prstGeom prst="roundRect">
            <a:avLst>
              <a:gd name="adj" fmla="val 475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156" y="4900811"/>
            <a:ext cx="593749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What-If Simulator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41156" y="5246191"/>
            <a:ext cx="593749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sliders for tenure, prepayment, rate shift, and horizon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trigger live recompute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through the engine — not a static lookup table. Same document, different user profiles (age 25 vs. age 60) yield different outcomes.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27"/>
            <a:ext cx="1086874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Trade-Off Engine &amp; Recommendation Dashboard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2698254"/>
            <a:ext cx="476287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the Dashboard Delivers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2902843"/>
            <a:ext cx="4762877" cy="545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"this is cheapest," the Trade-Off Engine says: </a:t>
            </a: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"this is better for YOUR goals."</a:t>
            </a:r>
            <a:endParaRPr lang="en-US" sz="75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combines Exposure Score, clause-risk labels, and live What-If outcomes into a single, personalized recommendation.</a:t>
            </a:r>
            <a:endParaRPr lang="en-US" sz="7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components: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3491409"/>
            <a:ext cx="4762877" cy="77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Exposure Score + Risk Level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Comparison Table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Pros/Cons per document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with reasoning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links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007EB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Explainability Trace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which clause, which agent, which data source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463" y="969169"/>
            <a:ext cx="4991967" cy="49920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1475" y="6069409"/>
            <a:ext cx="10868745" cy="258564"/>
          </a:xfrm>
          <a:prstGeom prst="roundRect">
            <a:avLst>
              <a:gd name="adj" fmla="val 15496"/>
            </a:avLst>
          </a:prstGeom>
          <a:solidFill>
            <a:srgbClr val="CCEE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22" y="6188571"/>
            <a:ext cx="119159" cy="953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1327" y="6141343"/>
            <a:ext cx="11073131" cy="11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recommendation ships with a visible trace — the direct answer to: </a:t>
            </a: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"How do you avoid hallucination?"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8E69DE-E49A-2767-7E26-11A50E363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523" y="6405060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970"/>
            <a:ext cx="10868745" cy="5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Competitive Advantage &amp; Future Scope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55862"/>
            <a:ext cx="5791055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Where FinLens Wins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2107109"/>
            <a:ext cx="5791055" cy="3863578"/>
          </a:xfrm>
          <a:prstGeom prst="roundRect">
            <a:avLst>
              <a:gd name="adj" fmla="val 184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71452"/>
            <a:ext cx="5791055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291185"/>
            <a:ext cx="5791055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269482"/>
            <a:ext cx="5791055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247779"/>
            <a:ext cx="5791055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38576" y="2211586"/>
            <a:ext cx="21951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Alternative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64264" y="2211586"/>
            <a:ext cx="21951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89953" y="2211586"/>
            <a:ext cx="21951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FinLens Edge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8576" y="2672755"/>
            <a:ext cx="21951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Lawyers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64264" y="2672755"/>
            <a:ext cx="15855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₹5–10K/doc, slow, no comparison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9953" y="2672755"/>
            <a:ext cx="15855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Instant, ₹0, multi-doc comparison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8576" y="3392488"/>
            <a:ext cx="15855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AI (ChatGPT)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64264" y="3392488"/>
            <a:ext cx="158557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Hallucinations, no audit trail, no quant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9953" y="3392488"/>
            <a:ext cx="158557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Scored, explainable, quant-backed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8576" y="4370784"/>
            <a:ext cx="21951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Sites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64264" y="4370784"/>
            <a:ext cx="15855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personalization, no clause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89953" y="4370784"/>
            <a:ext cx="158557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Profile-driven, live benchmarking, What-If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576" y="5349081"/>
            <a:ext cx="219516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 Advisors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64264" y="5349081"/>
            <a:ext cx="15855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Inherently biased toward products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89953" y="5349081"/>
            <a:ext cx="15855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Neutral, auditable scoring rubric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3802" y="1655862"/>
            <a:ext cx="466266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</a:t>
            </a:r>
            <a:endParaRPr lang="en-US" sz="17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7598" y="2115493"/>
            <a:ext cx="255085" cy="2550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26536" y="2107109"/>
            <a:ext cx="410993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cards, mutual funds, and bank API integration</a:t>
            </a:r>
            <a:endParaRPr lang="en-US" sz="13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7598" y="2940397"/>
            <a:ext cx="255085" cy="25509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426536" y="2932013"/>
            <a:ext cx="410993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+ enterprise version for institutional use</a:t>
            </a:r>
            <a:endParaRPr lang="en-US" sz="13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7598" y="3765302"/>
            <a:ext cx="255085" cy="25509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426536" y="3756918"/>
            <a:ext cx="410993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Financial Intelligence Engine to options &amp; derivatives-backed products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418E8F-3717-EC00-B367-4AD5075AB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792" y="6473288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562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Demo &amp; Impact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2576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579662"/>
            <a:ext cx="353190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698030"/>
            <a:ext cx="353190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Open &amp; Upload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2043410"/>
            <a:ext cx="353190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FinLens, upload one or more financial PDFs via the React dashboard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29897" y="132576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9897" y="1579662"/>
            <a:ext cx="353190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4329897" y="1698030"/>
            <a:ext cx="353190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Processing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329897" y="2043410"/>
            <a:ext cx="353190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LangGraph pipeline runs — Classifier → Extractor → Clause-Risk Classifier — with live status updates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98319" y="132576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8319" y="1579662"/>
            <a:ext cx="353190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7998319" y="1698030"/>
            <a:ext cx="353190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Exposure Score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998319" y="2043410"/>
            <a:ext cx="353190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renders the 0–100 Exposure Score, risk labels, and side-by-side comparison table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301357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3267472"/>
            <a:ext cx="5366112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3385840"/>
            <a:ext cx="536611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What-If Simulation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1475" y="3731220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 with live sliders — tenure, prepayment, rate shift — to see the quant engine recompute in real 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64108" y="301357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64108" y="3267472"/>
            <a:ext cx="5366112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6164108" y="3385840"/>
            <a:ext cx="5366112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 + Trace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164108" y="3731220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recommendation rendered with full explainability trace: clause → agent → data source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4696" y="4560987"/>
            <a:ext cx="29826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₹12L</a:t>
            </a:r>
            <a:endParaRPr lang="en-US" sz="4150" dirty="0"/>
          </a:p>
        </p:txBody>
      </p:sp>
      <p:sp>
        <p:nvSpPr>
          <p:cNvPr id="24" name="Text 22"/>
          <p:cNvSpPr/>
          <p:nvPr/>
        </p:nvSpPr>
        <p:spPr>
          <a:xfrm>
            <a:off x="661475" y="5273873"/>
            <a:ext cx="350908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Potential Savings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61475" y="5619254"/>
            <a:ext cx="350908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consumer on a ₹50L home loan — recoverable by catching one missed prepayment clause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04429" y="4560987"/>
            <a:ext cx="29827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6mo</a:t>
            </a:r>
            <a:endParaRPr lang="en-US" sz="4150" dirty="0"/>
          </a:p>
        </p:txBody>
      </p:sp>
      <p:sp>
        <p:nvSpPr>
          <p:cNvPr id="27" name="Text 25"/>
          <p:cNvSpPr/>
          <p:nvPr/>
        </p:nvSpPr>
        <p:spPr>
          <a:xfrm>
            <a:off x="4341208" y="5273873"/>
            <a:ext cx="3509180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Timeline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341208" y="5619254"/>
            <a:ext cx="35091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4–5 engineers, modular architecture enabling parallel development and independent testing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84261" y="4560987"/>
            <a:ext cx="2982639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85%+</a:t>
            </a:r>
            <a:endParaRPr lang="en-US" sz="4150" dirty="0"/>
          </a:p>
        </p:txBody>
      </p:sp>
      <p:sp>
        <p:nvSpPr>
          <p:cNvPr id="30" name="Text 28"/>
          <p:cNvSpPr/>
          <p:nvPr/>
        </p:nvSpPr>
        <p:spPr>
          <a:xfrm>
            <a:off x="8021040" y="5273873"/>
            <a:ext cx="350908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Classifier Accuracy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021040" y="5619254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Clause-Risk Classifier validated on 100+ documents against historical loan outcomes</a:t>
            </a:r>
            <a:endParaRPr lang="en-US" sz="12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D884CA1-1B96-64B7-97B2-2CB6721DA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461" y="6486473"/>
            <a:ext cx="1981477" cy="3715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1203</Words>
  <Application>Microsoft Office PowerPoint</Application>
  <PresentationFormat>Widescreen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Inter</vt:lpstr>
      <vt:lpstr>Inter Bold</vt:lpstr>
      <vt:lpstr>Arial</vt:lpstr>
      <vt:lpstr>Petrona Bold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Ronit Choube</cp:lastModifiedBy>
  <cp:revision>1</cp:revision>
  <dcterms:created xsi:type="dcterms:W3CDTF">2026-08-01T14:48:02Z</dcterms:created>
  <dcterms:modified xsi:type="dcterms:W3CDTF">2026-08-04T17:37:28Z</dcterms:modified>
</cp:coreProperties>
</file>
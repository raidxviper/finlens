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Raleway" pitchFamily="2" charset="0"/>
      <p:regular r:id="rId14"/>
    </p:embeddedFont>
    <p:embeddedFont>
      <p:font typeface="Raleway Light" pitchFamily="2" charset="0"/>
      <p:regular r:id="rId15"/>
    </p:embeddedFont>
    <p:embeddedFont>
      <p:font typeface="Roboto" panose="02000000000000000000" pitchFamily="2" charset="0"/>
      <p:regular r:id="rId16"/>
    </p:embeddedFont>
    <p:embeddedFont>
      <p:font typeface="Roboto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it Choube" userId="2a16cd1920288420" providerId="LiveId" clId="{E5EC8DF4-3023-4133-A0E3-60B840799E65}"/>
    <pc:docChg chg="undo custSel modSld">
      <pc:chgData name="Ronit Choube" userId="2a16cd1920288420" providerId="LiveId" clId="{E5EC8DF4-3023-4133-A0E3-60B840799E65}" dt="2026-08-04T18:03:14.590" v="71" actId="1076"/>
      <pc:docMkLst>
        <pc:docMk/>
      </pc:docMkLst>
      <pc:sldChg chg="modSp mod">
        <pc:chgData name="Ronit Choube" userId="2a16cd1920288420" providerId="LiveId" clId="{E5EC8DF4-3023-4133-A0E3-60B840799E65}" dt="2026-08-04T17:59:44.010" v="39" actId="20577"/>
        <pc:sldMkLst>
          <pc:docMk/>
          <pc:sldMk cId="0" sldId="256"/>
        </pc:sldMkLst>
        <pc:spChg chg="mod">
          <ac:chgData name="Ronit Choube" userId="2a16cd1920288420" providerId="LiveId" clId="{E5EC8DF4-3023-4133-A0E3-60B840799E65}" dt="2026-08-04T17:59:44.010" v="39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modSp mod">
        <pc:chgData name="Ronit Choube" userId="2a16cd1920288420" providerId="LiveId" clId="{E5EC8DF4-3023-4133-A0E3-60B840799E65}" dt="2026-08-04T17:56:01.607" v="1" actId="1076"/>
        <pc:sldMkLst>
          <pc:docMk/>
          <pc:sldMk cId="0" sldId="258"/>
        </pc:sldMkLst>
        <pc:picChg chg="add mod">
          <ac:chgData name="Ronit Choube" userId="2a16cd1920288420" providerId="LiveId" clId="{E5EC8DF4-3023-4133-A0E3-60B840799E65}" dt="2026-08-04T17:56:01.607" v="1" actId="1076"/>
          <ac:picMkLst>
            <pc:docMk/>
            <pc:sldMk cId="0" sldId="258"/>
            <ac:picMk id="17" creationId="{25A828D1-684D-7E21-2F75-76111BC31B02}"/>
          </ac:picMkLst>
        </pc:picChg>
      </pc:sldChg>
      <pc:sldChg chg="addSp modSp mod">
        <pc:chgData name="Ronit Choube" userId="2a16cd1920288420" providerId="LiveId" clId="{E5EC8DF4-3023-4133-A0E3-60B840799E65}" dt="2026-08-04T18:00:00.562" v="40" actId="20577"/>
        <pc:sldMkLst>
          <pc:docMk/>
          <pc:sldMk cId="0" sldId="260"/>
        </pc:sldMkLst>
        <pc:spChg chg="mod">
          <ac:chgData name="Ronit Choube" userId="2a16cd1920288420" providerId="LiveId" clId="{E5EC8DF4-3023-4133-A0E3-60B840799E65}" dt="2026-08-04T18:00:00.562" v="40" actId="20577"/>
          <ac:spMkLst>
            <pc:docMk/>
            <pc:sldMk cId="0" sldId="260"/>
            <ac:spMk id="4" creationId="{00000000-0000-0000-0000-000000000000}"/>
          </ac:spMkLst>
        </pc:spChg>
        <pc:picChg chg="add mod">
          <ac:chgData name="Ronit Choube" userId="2a16cd1920288420" providerId="LiveId" clId="{E5EC8DF4-3023-4133-A0E3-60B840799E65}" dt="2026-08-04T17:56:12.722" v="4" actId="14100"/>
          <ac:picMkLst>
            <pc:docMk/>
            <pc:sldMk cId="0" sldId="260"/>
            <ac:picMk id="6" creationId="{20677C37-D399-96D6-4B79-172F908E1237}"/>
          </ac:picMkLst>
        </pc:picChg>
      </pc:sldChg>
      <pc:sldChg chg="addSp modSp mod">
        <pc:chgData name="Ronit Choube" userId="2a16cd1920288420" providerId="LiveId" clId="{E5EC8DF4-3023-4133-A0E3-60B840799E65}" dt="2026-08-04T17:56:23.974" v="7" actId="1076"/>
        <pc:sldMkLst>
          <pc:docMk/>
          <pc:sldMk cId="0" sldId="261"/>
        </pc:sldMkLst>
        <pc:picChg chg="add mod">
          <ac:chgData name="Ronit Choube" userId="2a16cd1920288420" providerId="LiveId" clId="{E5EC8DF4-3023-4133-A0E3-60B840799E65}" dt="2026-08-04T17:56:23.974" v="7" actId="1076"/>
          <ac:picMkLst>
            <pc:docMk/>
            <pc:sldMk cId="0" sldId="261"/>
            <ac:picMk id="19" creationId="{418AED09-37DD-AEB8-75B0-D8D329721112}"/>
          </ac:picMkLst>
        </pc:picChg>
      </pc:sldChg>
      <pc:sldChg chg="addSp modSp mod">
        <pc:chgData name="Ronit Choube" userId="2a16cd1920288420" providerId="LiveId" clId="{E5EC8DF4-3023-4133-A0E3-60B840799E65}" dt="2026-08-04T17:56:31.588" v="10" actId="14100"/>
        <pc:sldMkLst>
          <pc:docMk/>
          <pc:sldMk cId="0" sldId="262"/>
        </pc:sldMkLst>
        <pc:picChg chg="add mod">
          <ac:chgData name="Ronit Choube" userId="2a16cd1920288420" providerId="LiveId" clId="{E5EC8DF4-3023-4133-A0E3-60B840799E65}" dt="2026-08-04T17:56:31.588" v="10" actId="14100"/>
          <ac:picMkLst>
            <pc:docMk/>
            <pc:sldMk cId="0" sldId="262"/>
            <ac:picMk id="20" creationId="{01072FA3-A800-57FB-68DA-9B0F33CE15ED}"/>
          </ac:picMkLst>
        </pc:picChg>
      </pc:sldChg>
      <pc:sldChg chg="addSp modSp mod">
        <pc:chgData name="Ronit Choube" userId="2a16cd1920288420" providerId="LiveId" clId="{E5EC8DF4-3023-4133-A0E3-60B840799E65}" dt="2026-08-04T17:56:36.497" v="12" actId="1076"/>
        <pc:sldMkLst>
          <pc:docMk/>
          <pc:sldMk cId="0" sldId="263"/>
        </pc:sldMkLst>
        <pc:picChg chg="add mod">
          <ac:chgData name="Ronit Choube" userId="2a16cd1920288420" providerId="LiveId" clId="{E5EC8DF4-3023-4133-A0E3-60B840799E65}" dt="2026-08-04T17:56:36.497" v="12" actId="1076"/>
          <ac:picMkLst>
            <pc:docMk/>
            <pc:sldMk cId="0" sldId="263"/>
            <ac:picMk id="14" creationId="{5EC816C1-CF11-7305-3764-596922211637}"/>
          </ac:picMkLst>
        </pc:picChg>
      </pc:sldChg>
      <pc:sldChg chg="addSp modSp mod">
        <pc:chgData name="Ronit Choube" userId="2a16cd1920288420" providerId="LiveId" clId="{E5EC8DF4-3023-4133-A0E3-60B840799E65}" dt="2026-08-04T17:56:44.520" v="15" actId="14100"/>
        <pc:sldMkLst>
          <pc:docMk/>
          <pc:sldMk cId="0" sldId="264"/>
        </pc:sldMkLst>
        <pc:picChg chg="add mod">
          <ac:chgData name="Ronit Choube" userId="2a16cd1920288420" providerId="LiveId" clId="{E5EC8DF4-3023-4133-A0E3-60B840799E65}" dt="2026-08-04T17:56:44.520" v="15" actId="14100"/>
          <ac:picMkLst>
            <pc:docMk/>
            <pc:sldMk cId="0" sldId="264"/>
            <ac:picMk id="17" creationId="{12897D71-E6C4-1A8B-8CA0-A2214B49CDC8}"/>
          </ac:picMkLst>
        </pc:picChg>
      </pc:sldChg>
      <pc:sldChg chg="addSp modSp mod">
        <pc:chgData name="Ronit Choube" userId="2a16cd1920288420" providerId="LiveId" clId="{E5EC8DF4-3023-4133-A0E3-60B840799E65}" dt="2026-08-04T18:03:14.590" v="71" actId="1076"/>
        <pc:sldMkLst>
          <pc:docMk/>
          <pc:sldMk cId="0" sldId="265"/>
        </pc:sldMkLst>
        <pc:spChg chg="mod">
          <ac:chgData name="Ronit Choube" userId="2a16cd1920288420" providerId="LiveId" clId="{E5EC8DF4-3023-4133-A0E3-60B840799E65}" dt="2026-08-04T18:02:01.122" v="42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Ronit Choube" userId="2a16cd1920288420" providerId="LiveId" clId="{E5EC8DF4-3023-4133-A0E3-60B840799E65}" dt="2026-08-04T18:03:14.590" v="71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Ronit Choube" userId="2a16cd1920288420" providerId="LiveId" clId="{E5EC8DF4-3023-4133-A0E3-60B840799E65}" dt="2026-08-04T18:02:19.200" v="46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Ronit Choube" userId="2a16cd1920288420" providerId="LiveId" clId="{E5EC8DF4-3023-4133-A0E3-60B840799E65}" dt="2026-08-04T18:03:07.046" v="70" actId="14100"/>
          <ac:spMkLst>
            <pc:docMk/>
            <pc:sldMk cId="0" sldId="265"/>
            <ac:spMk id="7" creationId="{00000000-0000-0000-0000-000000000000}"/>
          </ac:spMkLst>
        </pc:spChg>
        <pc:spChg chg="mod">
          <ac:chgData name="Ronit Choube" userId="2a16cd1920288420" providerId="LiveId" clId="{E5EC8DF4-3023-4133-A0E3-60B840799E65}" dt="2026-08-04T18:03:04.725" v="69" actId="1076"/>
          <ac:spMkLst>
            <pc:docMk/>
            <pc:sldMk cId="0" sldId="265"/>
            <ac:spMk id="8" creationId="{00000000-0000-0000-0000-000000000000}"/>
          </ac:spMkLst>
        </pc:spChg>
        <pc:picChg chg="add mod">
          <ac:chgData name="Ronit Choube" userId="2a16cd1920288420" providerId="LiveId" clId="{E5EC8DF4-3023-4133-A0E3-60B840799E65}" dt="2026-08-04T17:56:52.331" v="18" actId="1076"/>
          <ac:picMkLst>
            <pc:docMk/>
            <pc:sldMk cId="0" sldId="265"/>
            <ac:picMk id="13" creationId="{86624D1A-5783-CAD7-4BBF-4F98C0EDE71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756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FinLens: AI-Powered Financial Document Analysis &amp; Comparison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22912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Year Project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6931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Problem: Financial Literacy Gap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384771"/>
            <a:ext cx="4722763" cy="10935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1530" y="1523033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Scenario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91530" y="1781994"/>
            <a:ext cx="4389090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Borrowers receive 30-page loan agreements filled with legal jargon — floating rates, foreclosure charges, prepayment penalties — and most only ask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"What's the EMI?"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signing.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586856"/>
            <a:ext cx="4722763" cy="10935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1530" y="2725117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Consequence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91530" y="2984078"/>
            <a:ext cx="4389090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Unexpected penalties like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₹2 lakh early repayment charges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misaligned insurance coverage, and poor investment decisions that could have been avoided.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788941"/>
            <a:ext cx="4722763" cy="9075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1530" y="3927202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91530" y="4186163"/>
            <a:ext cx="4389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documents are written by lawyers, not educators. Professional legal review costs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₹5,000–₹20,000 per document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inaccessible to most borrowers.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5317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Existing Solutions Fall Short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26505"/>
            <a:ext cx="5209729" cy="293042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64510" y="1041276"/>
            <a:ext cx="2688059" cy="890141"/>
          </a:xfrm>
          <a:prstGeom prst="roundRect">
            <a:avLst>
              <a:gd name="adj" fmla="val 491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73378" y="1150144"/>
            <a:ext cx="247032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Generic LLMs (ChatGPT)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73378" y="1389236"/>
            <a:ext cx="2470324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Explains one document but cannot compare multiple offers, lacks personalization, and may hallucinate without complete context.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964510" y="2007840"/>
            <a:ext cx="2688059" cy="745703"/>
          </a:xfrm>
          <a:prstGeom prst="roundRect">
            <a:avLst>
              <a:gd name="adj" fmla="val 586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73378" y="2116708"/>
            <a:ext cx="247032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Bank Websites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73378" y="2355800"/>
            <a:ext cx="247032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only their own products — no cross-institution comparative analysis possible.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964510" y="2829967"/>
            <a:ext cx="2688059" cy="745703"/>
          </a:xfrm>
          <a:prstGeom prst="roundRect">
            <a:avLst>
              <a:gd name="adj" fmla="val 586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73378" y="2938835"/>
            <a:ext cx="247032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Financial Advisors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73378" y="3177927"/>
            <a:ext cx="247032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Expensive, not scalable, require manual consultation. Not accessible to the average borrower.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964510" y="3652093"/>
            <a:ext cx="2688059" cy="890141"/>
          </a:xfrm>
          <a:prstGeom prst="roundRect">
            <a:avLst>
              <a:gd name="adj" fmla="val 491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73378" y="3760961"/>
            <a:ext cx="247032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Gap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73378" y="4000054"/>
            <a:ext cx="2470324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automated system combines document understanding + personalization + comparative analysis + live market context.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A828D1-684D-7E21-2F75-76111BC31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732" y="4509791"/>
            <a:ext cx="3715268" cy="552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64716"/>
            <a:ext cx="4722763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FinLens Solution: The Financial Doctor Analogy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96119" y="1324942"/>
            <a:ext cx="4722763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Just as a doctor diagnoses, compares treatment options, and prescribes based on your personal health profile — FinLens diagnoses your financial documents, compares offers, and recommends based on your financial profile.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931119"/>
            <a:ext cx="575890" cy="6910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5547" y="2046238"/>
            <a:ext cx="405333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Upload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165547" y="2282279"/>
            <a:ext cx="405333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loan offers, insurance plans, investment documents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622203"/>
            <a:ext cx="575890" cy="6910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5547" y="2737321"/>
            <a:ext cx="405333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1165547" y="2973363"/>
            <a:ext cx="405333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key terms, compare against live market rates, personalize to user profile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313286"/>
            <a:ext cx="575890" cy="69108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65547" y="3428405"/>
            <a:ext cx="405333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1165547" y="3664446"/>
            <a:ext cx="405333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scores, trade-off analysis, and personalized reasoning — fully auditable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496119" y="4109591"/>
            <a:ext cx="4722763" cy="569119"/>
          </a:xfrm>
          <a:prstGeom prst="roundRect">
            <a:avLst>
              <a:gd name="adj" fmla="val 8501"/>
            </a:avLst>
          </a:prstGeom>
          <a:solidFill>
            <a:srgbClr val="E1E1EA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237" y="4266977"/>
            <a:ext cx="143917" cy="11511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70272" y="4231853"/>
            <a:ext cx="423349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Innovation:</a:t>
            </a: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4-agent agentic AI workflow — not a single LLM — ensures accuracy, auditability, and domain-specific reasoning.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Architecture: Four AI Agents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83676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677C37-D399-96D6-4B79-172F908E1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53166"/>
            <a:ext cx="2612842" cy="5525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564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Agentic AI Over a Single LLM?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32148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928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Modularity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1999357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agent has one clear responsibility — easier to test, debug, and improve independently without touching other components.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232148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6928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Accuracy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1999357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Specialized prompts per task reduce hallucination. Structured outputs validated via Pydantic enforce schema correctness.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232148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6928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Auditability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199935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agent's reasoning is logged — professors and users can trace exactly why a recommendation was made.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90131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5082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57340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document types are added by creating new agents — no retraining of the entire system required.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190131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5082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57340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Fallback mechanisms ensure continuity — e.g., Market Watcher uses a reference dataset if live web search fails.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8AED09-37DD-AEB8-75B0-D8D3297211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8732" y="4525215"/>
            <a:ext cx="3715268" cy="552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928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 &amp; Justification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94954"/>
            <a:ext cx="5219179" cy="293578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7023" y="872877"/>
            <a:ext cx="2705546" cy="6578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89638" y="975420"/>
            <a:ext cx="216038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389638" y="1181770"/>
            <a:ext cx="2160389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Orchestrates agent workflow; enforces correct execution order across all four agents.</a:t>
            </a:r>
            <a:endParaRPr lang="en-US" sz="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7023" y="1591791"/>
            <a:ext cx="2705546" cy="6578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89638" y="1694334"/>
            <a:ext cx="216038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Claude (LLM)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6389638" y="1900684"/>
            <a:ext cx="2160389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Understands complex legal/financial language; strong reasoning for nuanced trade-off analysis.</a:t>
            </a:r>
            <a:endParaRPr lang="en-US" sz="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7023" y="2310705"/>
            <a:ext cx="2705546" cy="7811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89638" y="2413248"/>
            <a:ext cx="216038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FastAPI + React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6389638" y="2619598"/>
            <a:ext cx="2160389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 backend handles uploads and routing; interactive frontend displays scores and comparisons.</a:t>
            </a:r>
            <a:endParaRPr lang="en-US" sz="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7023" y="3152849"/>
            <a:ext cx="2705546" cy="7811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89638" y="3255392"/>
            <a:ext cx="216038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Tavily + Pydantic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6389638" y="3461742"/>
            <a:ext cx="2160389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market data fetching + strict output validation to prevent malformed AI outputs reaching the database.</a:t>
            </a:r>
            <a:endParaRPr lang="en-US" sz="7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7023" y="3994993"/>
            <a:ext cx="2705546" cy="65789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389638" y="4097536"/>
            <a:ext cx="216038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SQLite / PostgreSQL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6389638" y="4303886"/>
            <a:ext cx="2160389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Stores user profiles, documents, and full analysis history for auditability and session continuity.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1072FA3-A800-57FB-68DA-9B0F33CE1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2059" y="4852764"/>
            <a:ext cx="3715268" cy="290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44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Flow &amp; MVP Scope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10978"/>
            <a:ext cx="8151763" cy="2234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8791" y="2318555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Profile Setup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78791" y="2601857"/>
            <a:ext cx="1231850" cy="705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 5 questions: age, salary, EMIs, risk, goal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41353" y="1983298"/>
            <a:ext cx="1231850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Upload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41353" y="2487164"/>
            <a:ext cx="1231850" cy="52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financial PDFs for verification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35284" y="2318555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Pipeline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35284" y="2601857"/>
            <a:ext cx="1231850" cy="705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Classifier → Extractor → Market Watcher → Trade-off Engine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13530" y="1806846"/>
            <a:ext cx="1231849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Output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13530" y="2310712"/>
            <a:ext cx="1231849" cy="705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scores, highlights, personalized recommendations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390532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MVP is scoped to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home loans and insurance plans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realistic, achievable boundary for a semester timeline. The architecture is designed to extend to credit cards, mutual funds, and banking APIs in future phases without major restructuring.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C816C1-CF11-7305-3764-596922211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732" y="4508569"/>
            <a:ext cx="3715268" cy="5525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8533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Explainability &amp; Auditability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3925119" y="946249"/>
            <a:ext cx="4722763" cy="868710"/>
          </a:xfrm>
          <a:prstGeom prst="roundRect">
            <a:avLst>
              <a:gd name="adj" fmla="val 589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51697" y="1072828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Match Score Breakdown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51697" y="1325984"/>
            <a:ext cx="44696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92/100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transparently composed: interest rate (30 pts), prepayment flexibility (25 pts), processing fee (20 pts), plus additional weighted criteria.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1919585"/>
            <a:ext cx="4722763" cy="868710"/>
          </a:xfrm>
          <a:prstGeom prst="roundRect">
            <a:avLst>
              <a:gd name="adj" fmla="val 589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51697" y="2046163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Evidence-Backed Highlights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51697" y="2299320"/>
            <a:ext cx="44696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"Loan A: Lowest EMI"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every highlight is backed by extracted data cross-referenced against live market comparisons.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892921"/>
            <a:ext cx="4722763" cy="868710"/>
          </a:xfrm>
          <a:prstGeom prst="roundRect">
            <a:avLst>
              <a:gd name="adj" fmla="val 589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51697" y="3019499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Reasoning Transparency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51697" y="3272656"/>
            <a:ext cx="44696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"Choose Loan B if you plan to repay early"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recommendations explicitly explain the trade-off logic in plain language.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866257"/>
            <a:ext cx="4722763" cy="868710"/>
          </a:xfrm>
          <a:prstGeom prst="roundRect">
            <a:avLst>
              <a:gd name="adj" fmla="val 589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51697" y="3992835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 Audit Trail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51697" y="4245992"/>
            <a:ext cx="44696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extraction, market lookup, and comparison is logged with timestamps and source references — critical for the regulated financial domain.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897D71-E6C4-1A8B-8CA0-A2214B49C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732" y="4797773"/>
            <a:ext cx="3715268" cy="302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Feasibility &amp; Research Contribution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1389105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Timeline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661146" y="163330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MVP achievable in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4–5 months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document classification, extraction, and basic comparison pipeline are independently deliverable milestones.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661148" y="2221333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Novelty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665911" y="2506764"/>
            <a:ext cx="2564883" cy="546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agentic AI + personalization + live market context for financial documents. </a:t>
            </a: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existing system does all three.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1147" y="2636737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Scalability Path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665911" y="2839715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supports new document types, banking API integrations, and B2B fintech partnerships without redesign.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665911" y="296592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Known Challenges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65911" y="3117800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Handling document format variations (scanned PDFs, handwritten notes)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Ensuring extraction accuracy across diverse financial templates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Managing API rate limits for live market data</a:t>
            </a:r>
            <a:endParaRPr lang="en-US" sz="5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624D1A-5783-CAD7-4BBF-4F98C0EDE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576" y="4690877"/>
            <a:ext cx="3715268" cy="3923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2552"/>
            <a:ext cx="4722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Demo Flow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96119" y="852562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Demo scenario:</a:t>
            </a: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User uploads 3 home loan offers + 1 insurance plan and walks through the full agent pipeline in real time.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1227386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96119" y="1389906"/>
            <a:ext cx="4722763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1470496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Classifier in Action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96119" y="1679004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Watch the system automatically identify each document type — loan offer vs. insurance plan — without any manual tagging.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96119" y="2122363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96119" y="2284884"/>
            <a:ext cx="4722763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496119" y="2365474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Extractor Output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6119" y="2573982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structured key terms pulled from unstructured PDF text: interest rates, processing fees, prepayment penalties, lock-in periods.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119" y="3017341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96119" y="3179862"/>
            <a:ext cx="4722763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2"/>
          <p:cNvSpPr/>
          <p:nvPr/>
        </p:nvSpPr>
        <p:spPr>
          <a:xfrm>
            <a:off x="496119" y="3260452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Market Watcher Benchmark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6119" y="3468960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comparison — extracted rates benchmarked against current RBI-linked market rates fetched in real time.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96119" y="3912319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96119" y="4074840"/>
            <a:ext cx="4722763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6"/>
          <p:cNvSpPr/>
          <p:nvPr/>
        </p:nvSpPr>
        <p:spPr>
          <a:xfrm>
            <a:off x="496119" y="4155430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&amp; Auditability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6119" y="4363938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scores, side-by-side comparison, personalized recommendations — click any recommendation to trace extracted data, market benchmark, and full trade-off logic.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921</Words>
  <Application>Microsoft Office PowerPoint</Application>
  <PresentationFormat>On-screen Show (16:9)</PresentationFormat>
  <Paragraphs>105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Raleway Light</vt:lpstr>
      <vt:lpstr>Raleway</vt:lpstr>
      <vt:lpstr>Roboto Bold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Ronit Choube</cp:lastModifiedBy>
  <cp:revision>1</cp:revision>
  <dcterms:created xsi:type="dcterms:W3CDTF">2026-08-04T17:51:01Z</dcterms:created>
  <dcterms:modified xsi:type="dcterms:W3CDTF">2026-08-04T18:03:25Z</dcterms:modified>
</cp:coreProperties>
</file>